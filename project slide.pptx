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4"/>
  </p:sldMasterIdLst>
  <p:notesMasterIdLst>
    <p:notesMasterId r:id="rId18"/>
  </p:notesMasterIdLst>
  <p:handoutMasterIdLst>
    <p:handoutMasterId r:id="rId19"/>
  </p:handoutMasterIdLst>
  <p:sldIdLst>
    <p:sldId id="2568" r:id="rId5"/>
    <p:sldId id="2576" r:id="rId6"/>
    <p:sldId id="2569" r:id="rId7"/>
    <p:sldId id="2572" r:id="rId8"/>
    <p:sldId id="2571" r:id="rId9"/>
    <p:sldId id="2570" r:id="rId10"/>
    <p:sldId id="2561" r:id="rId11"/>
    <p:sldId id="2562" r:id="rId12"/>
    <p:sldId id="2563" r:id="rId13"/>
    <p:sldId id="2564" r:id="rId14"/>
    <p:sldId id="2565" r:id="rId15"/>
    <p:sldId id="2573" r:id="rId16"/>
    <p:sldId id="25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velopment of an Interactive Dashboard for School Performance Analysis Using EXETAT" id="{9394300D-5677-4340-9A6E-20D29144AB48}">
          <p14:sldIdLst/>
        </p14:section>
        <p14:section name="Title &amp; Purpose" id="{5DE673F6-7DE3-4973-82A0-C2ED41C9FFD3}">
          <p14:sldIdLst>
            <p14:sldId id="2568"/>
            <p14:sldId id="2576"/>
            <p14:sldId id="2569"/>
            <p14:sldId id="2572"/>
            <p14:sldId id="2571"/>
            <p14:sldId id="2570"/>
            <p14:sldId id="2561"/>
            <p14:sldId id="2562"/>
            <p14:sldId id="2563"/>
          </p14:sldIdLst>
        </p14:section>
        <p14:section name="Methodology &amp; Key Features" id="{3EAF488F-AF77-4B8E-B99E-451B8568FCA7}">
          <p14:sldIdLst>
            <p14:sldId id="2564"/>
            <p14:sldId id="2565"/>
            <p14:sldId id="2573"/>
            <p14:sldId id="2574"/>
          </p14:sldIdLst>
        </p14:section>
        <p14:section name="Findings &amp; Recommendations" id="{16F2B46A-CE0B-4256-806B-FF344BAA7DDC}">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3F470E-52B0-9EB2-2897-6B52A2DF9BF5}" v="310" dt="2025-12-27T08:13:13.387"/>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3759" autoAdjust="0"/>
  </p:normalViewPr>
  <p:slideViewPr>
    <p:cSldViewPr snapToGrid="0">
      <p:cViewPr>
        <p:scale>
          <a:sx n="100" d="100"/>
          <a:sy n="100" d="100"/>
        </p:scale>
        <p:origin x="-77" y="-552"/>
      </p:cViewPr>
      <p:guideLst/>
    </p:cSldViewPr>
  </p:slideViewPr>
  <p:notesTextViewPr>
    <p:cViewPr>
      <p:scale>
        <a:sx n="1" d="1"/>
        <a:sy n="1" d="1"/>
      </p:scale>
      <p:origin x="0" y="0"/>
    </p:cViewPr>
  </p:notesTextViewPr>
  <p:sorterViewPr>
    <p:cViewPr varScale="1">
      <p:scale>
        <a:sx n="1" d="1"/>
        <a:sy n="1" d="1"/>
      </p:scale>
      <p:origin x="0" y="-5600"/>
    </p:cViewPr>
  </p:sorterViewPr>
  <p:notesViewPr>
    <p:cSldViewPr snapToGrid="0">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12/26/2025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4168380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https://isbat-my.sharepoint.com/personal/011250047_isbatuniversity_com/Documents/finaly.docx
Project Overview and Purpose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725228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https://isbat-my.sharepoint.com/personal/011250047_isbatuniversity_com/Documents/finaly.docx
The project titled "Development of an Interactive Dashboard for School Performance Analysis Using National State Exam (EXETAT): A Case Study of the Ministry of Education in DRC" addresses a critical challenge in the Democratic Republic of Congo’s education system. Currently, the Ministry of Education publishes annual EXETAT exam results in static PDF tables, which are difficult for parents, policymakers, and other stakeholders to interpret. This lack of accessibility and usability limits transparency and informed decision-making. The purpose of this research is to design and develop an interactive dashboard that transforms these static results into dynamic, user-friendly visualizations. By doing so, the dashboard aims to empower parents to make evidence-based school choices, assist policymakers in monitoring performance trends, and promote accountability within the education sector. The solution leverages modern data analytics and visualization techniques to bridge the gap between raw examination data and actionable insights. Ultimately, this project seeks to modernize educational data management in the DRC, ensuring that stakeholders have the tools necessary to make informed decisions that improve educational outcomes and equity.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449124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https://isbat-my.sharepoint.com/personal/011250047_isbatuniversity_com/Documents/finaly.docx
Research Methodology and Dashboard Design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132762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https://isbat-my.sharepoint.com/personal/011250047_isbatuniversity_com/Documents/finaly.docx
The methodology for this project involved several technical steps to ensure accurate data extraction, processing, and visualization. First, web scraping techniques were employed to collect official Palmarès reports from the Ministry of Education’s website. These reports, which contain EXETAT results, were originally in PDF format, making them difficult to analyze. To address this, the second step involved PDF parsing, where data was extracted and converted into structured formats such as JSON. This structured data was then organized into a normalized relational database using principles of First, Second, and Third Normal Forms (1NF, 2NF, 3NF) to eliminate redundancy and ensure data integrity. Finally, the dashboard was developed using modern Python tools and designed to be interactive and user-friendly. Key features include summary metrics such as total schools, participants, and success rates; best student highlights; dynamic school ranking tables; and interactive filters for year, province, and option. The dashboard employs a clean visual hierarchy and color coding to enhance readability and ensure that critical information stands out. These features collectively enable stakeholders to analyze school performance trends effectively and make informed decisions.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4142033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dirty="0"/>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dirty="0"/>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3591357251"/>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24926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10764043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dirty="0"/>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2356789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dirty="0"/>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28446260"/>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dirty="0"/>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389796534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dirty="0"/>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690541754"/>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942607914"/>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dirty="0"/>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699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2674937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dirty="0"/>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29439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42660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812484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52825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8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263813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23803844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0825843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dirty="0"/>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274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94764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dirty="0"/>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382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23037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35103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651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dirty="0"/>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dirty="0"/>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09445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endParaRPr lang="en-US" dirty="0"/>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dirty="0"/>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63747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38698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78810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endParaRPr lang="en-US" dirty="0"/>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dirty="0"/>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9175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03064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dirty="0"/>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82082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dirty="0"/>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dirty="0"/>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701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827944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082756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53053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330762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dirty="0"/>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33424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dirty="0"/>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dirty="0"/>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339534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dirty="0"/>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1210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endParaRPr lang="en-US" dirty="0"/>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dirty="0"/>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dirty="0"/>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01147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dirty="0"/>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099587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587881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dirty="0"/>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dirty="0"/>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dirty="0"/>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3265095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dirty="0"/>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895830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4054243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234912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202637506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944187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14426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dirty="0"/>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82456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124675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dirty="0"/>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dirty="0"/>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dirty="0"/>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72351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4327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dirty="0"/>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dirty="0"/>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8710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003964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86917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66441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306022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7931535"/>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dirty="0"/>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975831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9623012"/>
      </p:ext>
    </p:extLst>
  </p:cSld>
  <p:clrMap bg1="lt1" tx1="dk1" bg2="lt2" tx2="dk2" accent1="accent1" accent2="accent2" accent3="accent3" accent4="accent4" accent5="accent5" accent6="accent6" hlink="hlink" folHlink="folHlink"/>
  <p:sldLayoutIdLst>
    <p:sldLayoutId id="2147483846" r:id="rId1"/>
    <p:sldLayoutId id="2147483841" r:id="rId2"/>
    <p:sldLayoutId id="2147483840" r:id="rId3"/>
    <p:sldLayoutId id="2147483842" r:id="rId4"/>
    <p:sldLayoutId id="2147483843" r:id="rId5"/>
    <p:sldLayoutId id="2147483844" r:id="rId6"/>
    <p:sldLayoutId id="2147483845" r:id="rId7"/>
    <p:sldLayoutId id="2147483847" r:id="rId8"/>
    <p:sldLayoutId id="2147483848"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60" r:id="rId39"/>
    <p:sldLayoutId id="214748386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 id="2147483893" r:id="rId52"/>
    <p:sldLayoutId id="2147483894" r:id="rId53"/>
    <p:sldLayoutId id="2147483895" r:id="rId54"/>
    <p:sldLayoutId id="2147483896" r:id="rId55"/>
    <p:sldLayoutId id="2147483897" r:id="rId56"/>
    <p:sldLayoutId id="2147483898" r:id="rId57"/>
    <p:sldLayoutId id="2147483899" r:id="rId58"/>
    <p:sldLayoutId id="2147483900" r:id="rId59"/>
    <p:sldLayoutId id="2147483901"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EE13-9C08-D377-66B0-B4A96E362663}"/>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75FB4C50-DAA6-C649-3651-380586035850}"/>
              </a:ext>
            </a:extLst>
          </p:cNvPr>
          <p:cNvSpPr>
            <a:spLocks noGrp="1"/>
          </p:cNvSpPr>
          <p:nvPr>
            <p:ph sz="quarter" idx="13"/>
          </p:nvPr>
        </p:nvSpPr>
        <p:spPr/>
        <p:txBody>
          <a:bodyPr vert="horz" lIns="91440" tIns="45720" rIns="91440" bIns="45720" rtlCol="0" anchor="t">
            <a:normAutofit/>
          </a:bodyPr>
          <a:lstStyle/>
          <a:p>
            <a:pPr algn="ctr"/>
            <a:r>
              <a:rPr lang="en-US" dirty="0"/>
              <a:t>Hello World </a:t>
            </a:r>
          </a:p>
          <a:p>
            <a:r>
              <a:rPr lang="en-US" sz="2000" dirty="0"/>
              <a:t>My name : Yves </a:t>
            </a:r>
            <a:r>
              <a:rPr lang="en-US" sz="2000" dirty="0" err="1"/>
              <a:t>Murhabazi</a:t>
            </a:r>
          </a:p>
          <a:p>
            <a:r>
              <a:rPr lang="en-US" sz="2000" dirty="0">
                <a:solidFill>
                  <a:srgbClr val="392623"/>
                </a:solidFill>
                <a:latin typeface="Selawik"/>
              </a:rPr>
              <a:t>My project title : An interactive dashboard for school performance analysis using nation state exam result( EXETAT/DRC)</a:t>
            </a:r>
          </a:p>
          <a:p>
            <a:r>
              <a:rPr lang="en-US" sz="2000" dirty="0">
                <a:solidFill>
                  <a:srgbClr val="392623"/>
                </a:solidFill>
                <a:latin typeface="Selawik"/>
              </a:rPr>
              <a:t>My </a:t>
            </a:r>
            <a:r>
              <a:rPr lang="en-US" sz="2000" dirty="0" err="1">
                <a:solidFill>
                  <a:srgbClr val="392623"/>
                </a:solidFill>
                <a:latin typeface="Selawik"/>
              </a:rPr>
              <a:t>Github</a:t>
            </a:r>
            <a:r>
              <a:rPr lang="en-US" sz="2000" dirty="0">
                <a:solidFill>
                  <a:srgbClr val="392623"/>
                </a:solidFill>
                <a:latin typeface="Selawik"/>
              </a:rPr>
              <a:t> username : </a:t>
            </a:r>
            <a:r>
              <a:rPr lang="en-US" sz="2000" dirty="0" err="1">
                <a:solidFill>
                  <a:srgbClr val="392623"/>
                </a:solidFill>
                <a:latin typeface="Selawik"/>
              </a:rPr>
              <a:t>Yvesmurh</a:t>
            </a:r>
          </a:p>
          <a:p>
            <a:r>
              <a:rPr lang="en-US" sz="2000" dirty="0">
                <a:solidFill>
                  <a:srgbClr val="392623"/>
                </a:solidFill>
                <a:latin typeface="Selawik"/>
              </a:rPr>
              <a:t> </a:t>
            </a:r>
            <a:r>
              <a:rPr lang="en-US" sz="2000" dirty="0" err="1">
                <a:solidFill>
                  <a:srgbClr val="392623"/>
                </a:solidFill>
                <a:latin typeface="Selawik"/>
              </a:rPr>
              <a:t>edx</a:t>
            </a:r>
            <a:r>
              <a:rPr lang="en-US" sz="2000" dirty="0">
                <a:solidFill>
                  <a:srgbClr val="392623"/>
                </a:solidFill>
                <a:latin typeface="Selawik"/>
              </a:rPr>
              <a:t> usernames : </a:t>
            </a:r>
            <a:r>
              <a:rPr lang="en-US" sz="2000" dirty="0"/>
              <a:t>yves25_4</a:t>
            </a:r>
            <a:endParaRPr lang="en-US" dirty="0"/>
          </a:p>
          <a:p>
            <a:r>
              <a:rPr lang="en-US" sz="2000" dirty="0">
                <a:solidFill>
                  <a:srgbClr val="392623"/>
                </a:solidFill>
                <a:latin typeface="Selawik"/>
              </a:rPr>
              <a:t>My city : I'm </a:t>
            </a:r>
            <a:r>
              <a:rPr lang="en-US" sz="2000" dirty="0" err="1">
                <a:solidFill>
                  <a:srgbClr val="392623"/>
                </a:solidFill>
                <a:latin typeface="Selawik"/>
              </a:rPr>
              <a:t>congolese</a:t>
            </a:r>
            <a:r>
              <a:rPr lang="en-US" sz="2000" dirty="0">
                <a:solidFill>
                  <a:srgbClr val="392623"/>
                </a:solidFill>
                <a:latin typeface="Selawik"/>
              </a:rPr>
              <a:t> but currently living in Uganda/Kampala</a:t>
            </a:r>
          </a:p>
          <a:p>
            <a:r>
              <a:rPr lang="en-US" sz="2000" dirty="0">
                <a:solidFill>
                  <a:srgbClr val="392623"/>
                </a:solidFill>
                <a:latin typeface="Selawik"/>
              </a:rPr>
              <a:t>The date I'm doing this is on the 27th December 2025</a:t>
            </a:r>
          </a:p>
        </p:txBody>
      </p:sp>
    </p:spTree>
    <p:extLst>
      <p:ext uri="{BB962C8B-B14F-4D97-AF65-F5344CB8AC3E}">
        <p14:creationId xmlns:p14="http://schemas.microsoft.com/office/powerpoint/2010/main" val="6898518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821-7926-795D-1175-A66691C16A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287B87-9E01-4185-127F-E0D30AA421E0}"/>
              </a:ext>
            </a:extLst>
          </p:cNvPr>
          <p:cNvSpPr>
            <a:spLocks noGrp="1"/>
          </p:cNvSpPr>
          <p:nvPr>
            <p:ph sz="quarter" idx="13"/>
          </p:nvPr>
        </p:nvSpPr>
        <p:spPr/>
        <p:txBody>
          <a:bodyPr/>
          <a:lstStyle/>
          <a:p>
            <a:pPr algn="ctr"/>
            <a:endParaRPr lang="en-US" b="0" dirty="0">
              <a:solidFill>
                <a:srgbClr val="FFFFFF"/>
              </a:solidFill>
            </a:endParaRPr>
          </a:p>
          <a:p>
            <a:pPr algn="ctr"/>
            <a:endParaRPr lang="en-US" b="0" dirty="0">
              <a:solidFill>
                <a:srgbClr val="FFFFFF"/>
              </a:solidFill>
            </a:endParaRPr>
          </a:p>
          <a:p>
            <a:pPr algn="ctr"/>
            <a:r>
              <a:rPr lang="en-US" dirty="0"/>
              <a:t>DATA …...</a:t>
            </a:r>
            <a:endParaRPr lang="en-US" b="0" dirty="0">
              <a:solidFill>
                <a:srgbClr val="FFFFFF"/>
              </a:solidFill>
            </a:endParaRPr>
          </a:p>
          <a:p>
            <a:endParaRPr lang="en-US" dirty="0"/>
          </a:p>
        </p:txBody>
      </p:sp>
    </p:spTree>
    <p:extLst>
      <p:ext uri="{BB962C8B-B14F-4D97-AF65-F5344CB8AC3E}">
        <p14:creationId xmlns:p14="http://schemas.microsoft.com/office/powerpoint/2010/main" val="3665859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D43F-473A-AF20-147B-892D073AF8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360539-5A72-EDB1-827A-5B358F20244C}"/>
              </a:ext>
            </a:extLst>
          </p:cNvPr>
          <p:cNvSpPr>
            <a:spLocks noGrp="1"/>
          </p:cNvSpPr>
          <p:nvPr>
            <p:ph sz="quarter" idx="13"/>
          </p:nvPr>
        </p:nvSpPr>
        <p:spPr/>
        <p:txBody>
          <a:bodyPr/>
          <a:lstStyle/>
          <a:p>
            <a:pPr algn="ctr"/>
            <a:endParaRPr lang="en-US" dirty="0"/>
          </a:p>
          <a:p>
            <a:pPr algn="ctr"/>
            <a:endParaRPr lang="en-US" dirty="0"/>
          </a:p>
          <a:p>
            <a:pPr algn="ctr"/>
            <a:r>
              <a:rPr lang="en-US" dirty="0"/>
              <a:t>DASHBOARD.... </a:t>
            </a:r>
          </a:p>
        </p:txBody>
      </p:sp>
    </p:spTree>
    <p:extLst>
      <p:ext uri="{BB962C8B-B14F-4D97-AF65-F5344CB8AC3E}">
        <p14:creationId xmlns:p14="http://schemas.microsoft.com/office/powerpoint/2010/main" val="2026203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9F4B3-D176-98F7-39D8-A22682A7CBC6}"/>
              </a:ext>
            </a:extLst>
          </p:cNvPr>
          <p:cNvSpPr>
            <a:spLocks noGrp="1"/>
          </p:cNvSpPr>
          <p:nvPr>
            <p:ph type="title"/>
          </p:nvPr>
        </p:nvSpPr>
        <p:spPr/>
        <p:txBody>
          <a:bodyPr/>
          <a:lstStyle/>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5D8AC556-7DE6-98A3-76A3-0021994F4FF9}"/>
              </a:ext>
            </a:extLst>
          </p:cNvPr>
          <p:cNvPicPr>
            <a:picLocks noGrp="1" noChangeAspect="1"/>
          </p:cNvPicPr>
          <p:nvPr>
            <p:ph sz="quarter" idx="13"/>
          </p:nvPr>
        </p:nvPicPr>
        <p:blipFill>
          <a:blip r:embed="rId2"/>
          <a:stretch>
            <a:fillRect/>
          </a:stretch>
        </p:blipFill>
        <p:spPr>
          <a:xfrm>
            <a:off x="719192" y="694079"/>
            <a:ext cx="10351213" cy="5879472"/>
          </a:xfrm>
          <a:prstGeom prst="rect">
            <a:avLst/>
          </a:prstGeom>
        </p:spPr>
      </p:pic>
    </p:spTree>
    <p:extLst>
      <p:ext uri="{BB962C8B-B14F-4D97-AF65-F5344CB8AC3E}">
        <p14:creationId xmlns:p14="http://schemas.microsoft.com/office/powerpoint/2010/main" val="1163683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74D8E-39B9-62F2-E913-82B0F82E5AB5}"/>
              </a:ext>
            </a:extLst>
          </p:cNvPr>
          <p:cNvSpPr>
            <a:spLocks noGrp="1"/>
          </p:cNvSpPr>
          <p:nvPr>
            <p:ph type="title"/>
          </p:nvPr>
        </p:nvSpPr>
        <p:spPr/>
        <p:txBody>
          <a:bodyPr/>
          <a:lstStyle/>
          <a:p>
            <a:endParaRPr lang="en-US"/>
          </a:p>
        </p:txBody>
      </p:sp>
      <p:pic>
        <p:nvPicPr>
          <p:cNvPr id="7" name="Content Placeholder 6" descr="A black and white document with white text&#10;&#10;AI-generated content may be incorrect.">
            <a:extLst>
              <a:ext uri="{FF2B5EF4-FFF2-40B4-BE49-F238E27FC236}">
                <a16:creationId xmlns:a16="http://schemas.microsoft.com/office/drawing/2014/main" id="{BD251FE8-EC1B-EC60-DE8D-E4E311083F0F}"/>
              </a:ext>
            </a:extLst>
          </p:cNvPr>
          <p:cNvPicPr>
            <a:picLocks noGrp="1" noChangeAspect="1"/>
          </p:cNvPicPr>
          <p:nvPr>
            <p:ph sz="quarter" idx="13"/>
          </p:nvPr>
        </p:nvPicPr>
        <p:blipFill>
          <a:blip r:embed="rId2"/>
          <a:stretch>
            <a:fillRect/>
          </a:stretch>
        </p:blipFill>
        <p:spPr>
          <a:xfrm>
            <a:off x="1389227" y="129473"/>
            <a:ext cx="9670399" cy="6580595"/>
          </a:xfrm>
          <a:prstGeom prst="rect">
            <a:avLst/>
          </a:prstGeom>
        </p:spPr>
      </p:pic>
    </p:spTree>
    <p:extLst>
      <p:ext uri="{BB962C8B-B14F-4D97-AF65-F5344CB8AC3E}">
        <p14:creationId xmlns:p14="http://schemas.microsoft.com/office/powerpoint/2010/main" val="1657943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29F4-8D24-76C1-EFBC-7F8BD01C8CF1}"/>
              </a:ext>
            </a:extLst>
          </p:cNvPr>
          <p:cNvSpPr>
            <a:spLocks noGrp="1"/>
          </p:cNvSpPr>
          <p:nvPr>
            <p:ph type="title"/>
          </p:nvPr>
        </p:nvSpPr>
        <p:spPr/>
        <p:txBody>
          <a:bodyPr/>
          <a:lstStyle/>
          <a:p>
            <a:r>
              <a:rPr lang="en-US" dirty="0"/>
              <a:t>WHICH ONE DO YOU PREFER GUYS </a:t>
            </a:r>
          </a:p>
        </p:txBody>
      </p:sp>
      <p:pic>
        <p:nvPicPr>
          <p:cNvPr id="5" name="Content Placeholder 4" descr="A screenshot of a computer&#10;&#10;AI-generated content may be incorrect.">
            <a:extLst>
              <a:ext uri="{FF2B5EF4-FFF2-40B4-BE49-F238E27FC236}">
                <a16:creationId xmlns:a16="http://schemas.microsoft.com/office/drawing/2014/main" id="{6167B9C2-C720-B0E9-DC35-826A8E36E9CE}"/>
              </a:ext>
            </a:extLst>
          </p:cNvPr>
          <p:cNvPicPr>
            <a:picLocks noGrp="1" noChangeAspect="1"/>
          </p:cNvPicPr>
          <p:nvPr>
            <p:ph sz="quarter" idx="15"/>
          </p:nvPr>
        </p:nvPicPr>
        <p:blipFill>
          <a:blip r:embed="rId2"/>
          <a:stretch>
            <a:fillRect/>
          </a:stretch>
        </p:blipFill>
        <p:spPr>
          <a:xfrm>
            <a:off x="395270" y="1932568"/>
            <a:ext cx="5981021" cy="4363378"/>
          </a:xfrm>
          <a:prstGeom prst="rect">
            <a:avLst/>
          </a:prstGeom>
        </p:spPr>
      </p:pic>
      <p:pic>
        <p:nvPicPr>
          <p:cNvPr id="9" name="Content Placeholder 8">
            <a:extLst>
              <a:ext uri="{FF2B5EF4-FFF2-40B4-BE49-F238E27FC236}">
                <a16:creationId xmlns:a16="http://schemas.microsoft.com/office/drawing/2014/main" id="{C252EAF8-B55B-875A-D2AF-0C95D54FD883}"/>
              </a:ext>
            </a:extLst>
          </p:cNvPr>
          <p:cNvPicPr>
            <a:picLocks noGrp="1" noChangeAspect="1"/>
          </p:cNvPicPr>
          <p:nvPr>
            <p:ph sz="quarter" idx="16"/>
          </p:nvPr>
        </p:nvPicPr>
        <p:blipFill>
          <a:blip r:embed="rId3"/>
          <a:stretch>
            <a:fillRect/>
          </a:stretch>
        </p:blipFill>
        <p:spPr>
          <a:xfrm>
            <a:off x="6462061" y="1931684"/>
            <a:ext cx="5202027" cy="4365142"/>
          </a:xfrm>
          <a:prstGeom prst="rect">
            <a:avLst/>
          </a:prstGeom>
        </p:spPr>
      </p:pic>
    </p:spTree>
    <p:extLst>
      <p:ext uri="{BB962C8B-B14F-4D97-AF65-F5344CB8AC3E}">
        <p14:creationId xmlns:p14="http://schemas.microsoft.com/office/powerpoint/2010/main" val="3277890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32EDB-F033-71A6-CF86-8BD1C15B2E34}"/>
              </a:ext>
            </a:extLst>
          </p:cNvPr>
          <p:cNvSpPr>
            <a:spLocks noGrp="1"/>
          </p:cNvSpPr>
          <p:nvPr>
            <p:ph type="ctrTitle"/>
          </p:nvPr>
        </p:nvSpPr>
        <p:spPr>
          <a:xfrm>
            <a:off x="365760" y="365758"/>
            <a:ext cx="11460480" cy="786384"/>
          </a:xfrm>
        </p:spPr>
        <p:txBody>
          <a:bodyPr anchor="ctr">
            <a:normAutofit/>
          </a:bodyPr>
          <a:lstStyle/>
          <a:p>
            <a:r>
              <a:rPr lang="en-US" sz="2400"/>
              <a:t>Development of an Interactive Dashboard for School Performance Analysis Using EXETAT</a:t>
            </a:r>
          </a:p>
        </p:txBody>
      </p:sp>
      <p:sp>
        <p:nvSpPr>
          <p:cNvPr id="3" name="Subtitle 2">
            <a:extLst>
              <a:ext uri="{FF2B5EF4-FFF2-40B4-BE49-F238E27FC236}">
                <a16:creationId xmlns:a16="http://schemas.microsoft.com/office/drawing/2014/main" id="{49169B7A-544A-C465-2A11-1D5683F86897}"/>
              </a:ext>
            </a:extLst>
          </p:cNvPr>
          <p:cNvSpPr>
            <a:spLocks noGrp="1"/>
          </p:cNvSpPr>
          <p:nvPr>
            <p:ph type="subTitle" idx="1"/>
          </p:nvPr>
        </p:nvSpPr>
        <p:spPr>
          <a:xfrm>
            <a:off x="2917166" y="6067879"/>
            <a:ext cx="6357668" cy="480373"/>
          </a:xfrm>
        </p:spPr>
        <p:txBody>
          <a:bodyPr anchor="t">
            <a:normAutofit/>
          </a:bodyPr>
          <a:lstStyle/>
          <a:p>
            <a:pPr>
              <a:lnSpc>
                <a:spcPct val="110000"/>
              </a:lnSpc>
            </a:pPr>
            <a:r>
              <a:rPr lang="en-US" sz="1700"/>
              <a:t>Enhancing education insights through dynamic data visualization</a:t>
            </a:r>
          </a:p>
        </p:txBody>
      </p:sp>
      <p:pic>
        <p:nvPicPr>
          <p:cNvPr id="4" name="Picture 3" descr="Scientists examines DNA models in modern Neurological Research Laboratory. Touch screens. Wearing clean suit and protective mask">
            <a:extLst>
              <a:ext uri="{FF2B5EF4-FFF2-40B4-BE49-F238E27FC236}">
                <a16:creationId xmlns:a16="http://schemas.microsoft.com/office/drawing/2014/main" id="{9846C3C6-0DEE-428B-92B7-A53F838B96A1}"/>
              </a:ext>
            </a:extLst>
          </p:cNvPr>
          <p:cNvPicPr>
            <a:picLocks noChangeAspect="1"/>
          </p:cNvPicPr>
          <p:nvPr/>
        </p:nvPicPr>
        <p:blipFill>
          <a:blip r:embed="rId3"/>
          <a:srcRect r="1" b="21576"/>
          <a:stretch>
            <a:fillRect/>
          </a:stretch>
        </p:blipFill>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noFill/>
          <a:ln w="76200">
            <a:solidFill>
              <a:schemeClr val="accent3">
                <a:lumMod val="20000"/>
                <a:lumOff val="80000"/>
              </a:schemeClr>
            </a:solidFill>
          </a:ln>
        </p:spPr>
      </p:pic>
    </p:spTree>
    <p:extLst>
      <p:ext uri="{BB962C8B-B14F-4D97-AF65-F5344CB8AC3E}">
        <p14:creationId xmlns:p14="http://schemas.microsoft.com/office/powerpoint/2010/main" val="83446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CE341-18E4-910E-4294-09DC5CB59582}"/>
              </a:ext>
            </a:extLst>
          </p:cNvPr>
          <p:cNvSpPr>
            <a:spLocks noGrp="1"/>
          </p:cNvSpPr>
          <p:nvPr>
            <p:ph type="ctrTitle"/>
          </p:nvPr>
        </p:nvSpPr>
        <p:spPr>
          <a:xfrm>
            <a:off x="792525" y="1511300"/>
            <a:ext cx="10606950" cy="3835400"/>
          </a:xfrm>
        </p:spPr>
        <p:txBody>
          <a:bodyPr anchor="ctr">
            <a:normAutofit/>
          </a:bodyPr>
          <a:lstStyle/>
          <a:p>
            <a:r>
              <a:rPr lang="en-US"/>
              <a:t>Title &amp; Purpose</a:t>
            </a:r>
          </a:p>
        </p:txBody>
      </p:sp>
    </p:spTree>
    <p:extLst>
      <p:ext uri="{BB962C8B-B14F-4D97-AF65-F5344CB8AC3E}">
        <p14:creationId xmlns:p14="http://schemas.microsoft.com/office/powerpoint/2010/main" val="6206213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4BE7-000E-7BE0-326A-8D23095F2A64}"/>
              </a:ext>
            </a:extLst>
          </p:cNvPr>
          <p:cNvSpPr>
            <a:spLocks noGrp="1"/>
          </p:cNvSpPr>
          <p:nvPr>
            <p:ph type="title"/>
          </p:nvPr>
        </p:nvSpPr>
        <p:spPr>
          <a:xfrm>
            <a:off x="612648" y="548639"/>
            <a:ext cx="4672584" cy="1453896"/>
          </a:xfrm>
        </p:spPr>
        <p:txBody>
          <a:bodyPr anchor="t">
            <a:normAutofit/>
          </a:bodyPr>
          <a:lstStyle/>
          <a:p>
            <a:r>
              <a:rPr lang="en-US" dirty="0"/>
              <a:t>Project Overview and Purpose</a:t>
            </a:r>
          </a:p>
        </p:txBody>
      </p:sp>
      <p:pic>
        <p:nvPicPr>
          <p:cNvPr id="5" name="Content Placeholder 4" descr="Young man sharing statistics at meeting of staff">
            <a:extLst>
              <a:ext uri="{FF2B5EF4-FFF2-40B4-BE49-F238E27FC236}">
                <a16:creationId xmlns:a16="http://schemas.microsoft.com/office/drawing/2014/main" id="{126AB3DA-726E-48F3-A433-AE23856BFA93}"/>
              </a:ext>
            </a:extLst>
          </p:cNvPr>
          <p:cNvPicPr>
            <a:picLocks noGrp="1" noChangeAspect="1"/>
          </p:cNvPicPr>
          <p:nvPr>
            <p:ph type="pic" sz="quarter" idx="13"/>
          </p:nvPr>
        </p:nvPicPr>
        <p:blipFill>
          <a:blip r:embed="rId3"/>
          <a:srcRect l="9587" r="23812"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36C54E09-5BD7-7BD8-6A83-B5871907F2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dirty="0"/>
              <a:t>Current Challenge</a:t>
            </a:r>
          </a:p>
          <a:p>
            <a:pPr marL="0" lvl="1" indent="0">
              <a:buFont typeface="Arial" panose="020B0604020202020204" pitchFamily="34" charset="0"/>
              <a:buNone/>
            </a:pPr>
            <a:r>
              <a:rPr lang="en-US" sz="1400" dirty="0"/>
              <a:t>EXETAT exam results are published as static PDFs, limiting accessibility and understanding for stakeholders.</a:t>
            </a:r>
          </a:p>
          <a:p>
            <a:pPr marL="0" indent="0">
              <a:spcBef>
                <a:spcPts val="2500"/>
              </a:spcBef>
              <a:buFont typeface="Arial" panose="020B0604020202020204" pitchFamily="34" charset="0"/>
              <a:buNone/>
            </a:pPr>
            <a:r>
              <a:rPr lang="en-US" sz="1400" b="1" dirty="0"/>
              <a:t>Project Purpose</a:t>
            </a:r>
          </a:p>
          <a:p>
            <a:pPr marL="0" lvl="1" indent="0">
              <a:buFont typeface="Arial" panose="020B0604020202020204" pitchFamily="34" charset="0"/>
              <a:buNone/>
            </a:pPr>
            <a:r>
              <a:rPr lang="en-US" sz="1400" dirty="0"/>
              <a:t>To develop an interactive dashboard converting static exam data into dynamic, user-friendly visualizations.</a:t>
            </a:r>
          </a:p>
          <a:p>
            <a:pPr marL="0" indent="0">
              <a:spcBef>
                <a:spcPts val="2500"/>
              </a:spcBef>
              <a:buFont typeface="Arial" panose="020B0604020202020204" pitchFamily="34" charset="0"/>
              <a:buNone/>
            </a:pPr>
            <a:r>
              <a:rPr lang="en-US" sz="1400" b="1" dirty="0"/>
              <a:t>Stakeholder Benefits</a:t>
            </a:r>
          </a:p>
          <a:p>
            <a:pPr marL="0" lvl="1" indent="0">
              <a:buFont typeface="Arial" panose="020B0604020202020204" pitchFamily="34" charset="0"/>
              <a:buNone/>
            </a:pPr>
            <a:r>
              <a:rPr lang="en-US" sz="1400" dirty="0"/>
              <a:t>Empowers parents, aids policymakers in monitoring trends, and promotes accountability in education.</a:t>
            </a:r>
          </a:p>
          <a:p>
            <a:pPr marL="0" indent="0">
              <a:spcBef>
                <a:spcPts val="2500"/>
              </a:spcBef>
              <a:buFont typeface="Arial" panose="020B0604020202020204" pitchFamily="34" charset="0"/>
              <a:buNone/>
            </a:pPr>
            <a:r>
              <a:rPr lang="en-US" sz="1400" b="1" dirty="0"/>
              <a:t>Modernizing Education Data</a:t>
            </a:r>
          </a:p>
          <a:p>
            <a:pPr marL="0" lvl="1" indent="0">
              <a:buFont typeface="Arial" panose="020B0604020202020204" pitchFamily="34" charset="0"/>
              <a:buNone/>
            </a:pPr>
            <a:r>
              <a:rPr lang="en-US" sz="1400" dirty="0"/>
              <a:t>Bridges raw exam data and actionable insights to improve educational outcomes and equity in DRC.</a:t>
            </a:r>
          </a:p>
        </p:txBody>
      </p:sp>
    </p:spTree>
    <p:extLst>
      <p:ext uri="{BB962C8B-B14F-4D97-AF65-F5344CB8AC3E}">
        <p14:creationId xmlns:p14="http://schemas.microsoft.com/office/powerpoint/2010/main" val="3490426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3C347-AE7B-F9FC-F88F-DFF7B88B1C83}"/>
              </a:ext>
            </a:extLst>
          </p:cNvPr>
          <p:cNvSpPr>
            <a:spLocks noGrp="1"/>
          </p:cNvSpPr>
          <p:nvPr>
            <p:ph type="ctrTitle"/>
          </p:nvPr>
        </p:nvSpPr>
        <p:spPr>
          <a:xfrm>
            <a:off x="792525" y="1511300"/>
            <a:ext cx="10606950" cy="3835400"/>
          </a:xfrm>
        </p:spPr>
        <p:txBody>
          <a:bodyPr anchor="ctr">
            <a:normAutofit/>
          </a:bodyPr>
          <a:lstStyle/>
          <a:p>
            <a:r>
              <a:rPr lang="en-US"/>
              <a:t>Methodology &amp; Key Features</a:t>
            </a:r>
          </a:p>
        </p:txBody>
      </p:sp>
    </p:spTree>
    <p:extLst>
      <p:ext uri="{BB962C8B-B14F-4D97-AF65-F5344CB8AC3E}">
        <p14:creationId xmlns:p14="http://schemas.microsoft.com/office/powerpoint/2010/main" val="2846864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69BA-33EB-7381-A088-F70CF2ACFE1B}"/>
              </a:ext>
            </a:extLst>
          </p:cNvPr>
          <p:cNvSpPr>
            <a:spLocks noGrp="1"/>
          </p:cNvSpPr>
          <p:nvPr>
            <p:ph type="title"/>
          </p:nvPr>
        </p:nvSpPr>
        <p:spPr>
          <a:xfrm>
            <a:off x="635000" y="650876"/>
            <a:ext cx="10922004" cy="975906"/>
          </a:xfrm>
        </p:spPr>
        <p:txBody>
          <a:bodyPr anchor="t">
            <a:normAutofit/>
          </a:bodyPr>
          <a:lstStyle/>
          <a:p>
            <a:r>
              <a:rPr lang="en-US" sz="3700"/>
              <a:t>Research Methodology and Dashboard Design</a:t>
            </a:r>
          </a:p>
        </p:txBody>
      </p:sp>
      <p:graphicFrame>
        <p:nvGraphicFramePr>
          <p:cNvPr id="5" name="Content Placeholder 4">
            <a:extLst>
              <a:ext uri="{FF2B5EF4-FFF2-40B4-BE49-F238E27FC236}">
                <a16:creationId xmlns:a16="http://schemas.microsoft.com/office/drawing/2014/main" id="{00382754-18C7-4872-B7FB-08841B1AC016}"/>
              </a:ext>
            </a:extLst>
          </p:cNvPr>
          <p:cNvGraphicFramePr>
            <a:graphicFrameLocks noGrp="1"/>
          </p:cNvGraphicFramePr>
          <p:nvPr>
            <p:ph idx="1"/>
          </p:nvPr>
        </p:nvGraphicFramePr>
        <p:xfrm>
          <a:off x="1741379" y="1924493"/>
          <a:ext cx="8709246" cy="4384869"/>
        </p:xfrm>
        <a:graphic>
          <a:graphicData uri="http://schemas.openxmlformats.org/drawingml/2006/table">
            <a:tbl>
              <a:tblPr firstRow="1" bandRow="1">
                <a:noFill/>
                <a:tableStyleId>{5C22544A-7EE6-4342-B048-85BDC9FD1C3A}</a:tableStyleId>
              </a:tblPr>
              <a:tblGrid>
                <a:gridCol w="2936002">
                  <a:extLst>
                    <a:ext uri="{9D8B030D-6E8A-4147-A177-3AD203B41FA5}">
                      <a16:colId xmlns:a16="http://schemas.microsoft.com/office/drawing/2014/main" val="402055740"/>
                    </a:ext>
                  </a:extLst>
                </a:gridCol>
                <a:gridCol w="5773244">
                  <a:extLst>
                    <a:ext uri="{9D8B030D-6E8A-4147-A177-3AD203B41FA5}">
                      <a16:colId xmlns:a16="http://schemas.microsoft.com/office/drawing/2014/main" val="4243775588"/>
                    </a:ext>
                  </a:extLst>
                </a:gridCol>
              </a:tblGrid>
              <a:tr h="718961">
                <a:tc>
                  <a:txBody>
                    <a:bodyPr/>
                    <a:lstStyle/>
                    <a:p>
                      <a:pPr>
                        <a:buNone/>
                      </a:pPr>
                      <a:r>
                        <a:rPr lang="en-US" sz="2100" b="1" cap="all" spc="150">
                          <a:solidFill>
                            <a:schemeClr val="tx1"/>
                          </a:solidFill>
                        </a:rPr>
                        <a:t>Step</a:t>
                      </a:r>
                    </a:p>
                  </a:txBody>
                  <a:tcPr marL="177765" marR="177765" marT="177765" marB="177765"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100" b="1" cap="all" spc="150">
                          <a:solidFill>
                            <a:schemeClr val="tx1"/>
                          </a:solidFill>
                        </a:rPr>
                        <a:t>Description</a:t>
                      </a:r>
                    </a:p>
                  </a:txBody>
                  <a:tcPr marL="177765" marR="177765" marT="177765" marB="177765"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638676968"/>
                  </a:ext>
                </a:extLst>
              </a:tr>
              <a:tr h="916477">
                <a:tc>
                  <a:txBody>
                    <a:bodyPr/>
                    <a:lstStyle/>
                    <a:p>
                      <a:pPr>
                        <a:buNone/>
                      </a:pPr>
                      <a:r>
                        <a:rPr lang="en-US" sz="1700" b="1" cap="none" spc="0">
                          <a:solidFill>
                            <a:schemeClr val="tx1"/>
                          </a:solidFill>
                        </a:rPr>
                        <a:t>Web Scraping</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Automated collection of Palmarès reports from official websites</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29294514"/>
                  </a:ext>
                </a:extLst>
              </a:tr>
              <a:tr h="916477">
                <a:tc>
                  <a:txBody>
                    <a:bodyPr/>
                    <a:lstStyle/>
                    <a:p>
                      <a:pPr>
                        <a:buNone/>
                      </a:pPr>
                      <a:r>
                        <a:rPr lang="en-US" sz="1700" b="1" cap="none" spc="0">
                          <a:solidFill>
                            <a:schemeClr val="tx1"/>
                          </a:solidFill>
                        </a:rPr>
                        <a:t>PDF Parsing</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Extraction of school and student data into structured formats</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01088862"/>
                  </a:ext>
                </a:extLst>
              </a:tr>
              <a:tr h="916477">
                <a:tc>
                  <a:txBody>
                    <a:bodyPr/>
                    <a:lstStyle/>
                    <a:p>
                      <a:pPr>
                        <a:buNone/>
                      </a:pPr>
                      <a:r>
                        <a:rPr lang="en-US" sz="1700" b="1" cap="none" spc="0">
                          <a:solidFill>
                            <a:schemeClr val="tx1"/>
                          </a:solidFill>
                        </a:rPr>
                        <a:t>Database Normalization</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Organizing data into clean relational models using 1NF, 2NF, 3NF</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47024724"/>
                  </a:ext>
                </a:extLst>
              </a:tr>
              <a:tr h="916477">
                <a:tc>
                  <a:txBody>
                    <a:bodyPr/>
                    <a:lstStyle/>
                    <a:p>
                      <a:pPr>
                        <a:buNone/>
                      </a:pPr>
                      <a:r>
                        <a:rPr lang="en-US" sz="1700" b="1" cap="none" spc="0">
                          <a:solidFill>
                            <a:schemeClr val="tx1"/>
                          </a:solidFill>
                        </a:rPr>
                        <a:t>Dashboard Design</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700" cap="none" spc="0">
                          <a:solidFill>
                            <a:schemeClr val="tx1"/>
                          </a:solidFill>
                        </a:rPr>
                        <a:t>Development of an interactive interface with KPIs, rankings, and filters</a:t>
                      </a:r>
                    </a:p>
                  </a:txBody>
                  <a:tcPr marL="177765" marR="177765" marT="177765" marB="17776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354674929"/>
                  </a:ext>
                </a:extLst>
              </a:tr>
            </a:tbl>
          </a:graphicData>
        </a:graphic>
      </p:graphicFrame>
    </p:spTree>
    <p:extLst>
      <p:ext uri="{BB962C8B-B14F-4D97-AF65-F5344CB8AC3E}">
        <p14:creationId xmlns:p14="http://schemas.microsoft.com/office/powerpoint/2010/main" val="215105073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A43E-B9E9-2212-C00E-1624385AD256}"/>
              </a:ext>
            </a:extLst>
          </p:cNvPr>
          <p:cNvSpPr>
            <a:spLocks noGrp="1"/>
          </p:cNvSpPr>
          <p:nvPr>
            <p:ph type="title"/>
          </p:nvPr>
        </p:nvSpPr>
        <p:spPr/>
        <p:txBody>
          <a:bodyPr/>
          <a:lstStyle/>
          <a:p>
            <a:endParaRPr lang="en-US"/>
          </a:p>
        </p:txBody>
      </p:sp>
      <p:pic>
        <p:nvPicPr>
          <p:cNvPr id="7" name="Content Placeholder 6" descr="A screenshot of a computer&#10;&#10;AI-generated content may be incorrect.">
            <a:extLst>
              <a:ext uri="{FF2B5EF4-FFF2-40B4-BE49-F238E27FC236}">
                <a16:creationId xmlns:a16="http://schemas.microsoft.com/office/drawing/2014/main" id="{745F8CB7-78F1-A277-6D2F-C49C21A07788}"/>
              </a:ext>
            </a:extLst>
          </p:cNvPr>
          <p:cNvPicPr>
            <a:picLocks noGrp="1" noChangeAspect="1"/>
          </p:cNvPicPr>
          <p:nvPr>
            <p:ph idx="1"/>
          </p:nvPr>
        </p:nvPicPr>
        <p:blipFill>
          <a:blip r:embed="rId2"/>
          <a:stretch>
            <a:fillRect/>
          </a:stretch>
        </p:blipFill>
        <p:spPr>
          <a:xfrm>
            <a:off x="1395575" y="786553"/>
            <a:ext cx="8775842" cy="5419286"/>
          </a:xfrm>
          <a:prstGeom prst="rect">
            <a:avLst/>
          </a:prstGeom>
        </p:spPr>
      </p:pic>
    </p:spTree>
    <p:extLst>
      <p:ext uri="{BB962C8B-B14F-4D97-AF65-F5344CB8AC3E}">
        <p14:creationId xmlns:p14="http://schemas.microsoft.com/office/powerpoint/2010/main" val="2441364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9036F-FF26-7F35-3F24-B5080B607C7E}"/>
              </a:ext>
            </a:extLst>
          </p:cNvPr>
          <p:cNvSpPr>
            <a:spLocks noGrp="1"/>
          </p:cNvSpPr>
          <p:nvPr>
            <p:ph type="title"/>
          </p:nvPr>
        </p:nvSpPr>
        <p:spPr/>
        <p:txBody>
          <a:bodyPr/>
          <a:lstStyle/>
          <a:p>
            <a:r>
              <a:rPr lang="en-US" dirty="0"/>
              <a:t>Limitation of the study </a:t>
            </a:r>
          </a:p>
        </p:txBody>
      </p:sp>
      <p:sp>
        <p:nvSpPr>
          <p:cNvPr id="3" name="Content Placeholder 2">
            <a:extLst>
              <a:ext uri="{FF2B5EF4-FFF2-40B4-BE49-F238E27FC236}">
                <a16:creationId xmlns:a16="http://schemas.microsoft.com/office/drawing/2014/main" id="{B9478DAA-25BC-A1D1-82DE-A25C65135242}"/>
              </a:ext>
            </a:extLst>
          </p:cNvPr>
          <p:cNvSpPr>
            <a:spLocks noGrp="1"/>
          </p:cNvSpPr>
          <p:nvPr>
            <p:ph idx="1"/>
          </p:nvPr>
        </p:nvSpPr>
        <p:spPr/>
        <p:txBody>
          <a:bodyPr vert="horz" lIns="91440" tIns="45720" rIns="91440" bIns="45720" rtlCol="0" anchor="t">
            <a:normAutofit/>
          </a:bodyPr>
          <a:lstStyle/>
          <a:p>
            <a:pPr algn="just"/>
            <a:r>
              <a:rPr lang="en-US" sz="1600" b="1" dirty="0">
                <a:latin typeface="Times New Roman"/>
                <a:cs typeface="Times New Roman"/>
              </a:rPr>
              <a:t>Limited Access to Historical EXETAT Data:</a:t>
            </a:r>
            <a:r>
              <a:rPr lang="en-US" sz="1600" dirty="0">
                <a:latin typeface="Times New Roman"/>
                <a:cs typeface="Times New Roman"/>
              </a:rPr>
              <a:t> </a:t>
            </a:r>
          </a:p>
          <a:p>
            <a:pPr algn="just"/>
            <a:r>
              <a:rPr lang="en-US" sz="1600" b="1" dirty="0">
                <a:latin typeface="Times New Roman"/>
                <a:cs typeface="Times New Roman"/>
              </a:rPr>
              <a:t>Data Inconsistencies:</a:t>
            </a:r>
            <a:r>
              <a:rPr lang="en-US" sz="1600" dirty="0">
                <a:latin typeface="Times New Roman"/>
                <a:cs typeface="Times New Roman"/>
              </a:rPr>
              <a:t> </a:t>
            </a:r>
          </a:p>
          <a:p>
            <a:pPr algn="just"/>
            <a:r>
              <a:rPr lang="en-US" sz="1600" b="1" dirty="0">
                <a:latin typeface="Times New Roman"/>
                <a:cs typeface="Times New Roman"/>
              </a:rPr>
              <a:t>Time Constraints:</a:t>
            </a:r>
            <a:endParaRPr lang="en-US" sz="1600" dirty="0">
              <a:latin typeface="Times New Roman"/>
              <a:cs typeface="Times New Roman"/>
            </a:endParaRPr>
          </a:p>
          <a:p>
            <a:pPr algn="just"/>
            <a:r>
              <a:rPr lang="en-US" sz="1600" b="1" dirty="0">
                <a:latin typeface="Times New Roman"/>
                <a:cs typeface="Times New Roman"/>
              </a:rPr>
              <a:t>Beginner-Level Design and Implementation:</a:t>
            </a:r>
            <a:r>
              <a:rPr lang="en-US" sz="1600" dirty="0">
                <a:latin typeface="Times New Roman"/>
                <a:cs typeface="Times New Roman"/>
              </a:rPr>
              <a:t> </a:t>
            </a:r>
          </a:p>
          <a:p>
            <a:endParaRPr lang="en-US" dirty="0"/>
          </a:p>
        </p:txBody>
      </p:sp>
    </p:spTree>
    <p:extLst>
      <p:ext uri="{BB962C8B-B14F-4D97-AF65-F5344CB8AC3E}">
        <p14:creationId xmlns:p14="http://schemas.microsoft.com/office/powerpoint/2010/main" val="4489057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A7ED85-B808-434C-86A4-C74008DE35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BE2FE14-95C5-45FF-BC75-86BFB7608EA8}">
  <ds:schemaRefs>
    <ds:schemaRef ds:uri="http://schemas.microsoft.com/sharepoint/v3/contenttype/forms"/>
  </ds:schemaRefs>
</ds:datastoreItem>
</file>

<file path=customXml/itemProps3.xml><?xml version="1.0" encoding="utf-8"?>
<ds:datastoreItem xmlns:ds="http://schemas.openxmlformats.org/officeDocument/2006/customXml" ds:itemID="{0E515430-86DB-4B6B-974D-1452A397A4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13</Slides>
  <Notes>5</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Playful doodles</vt:lpstr>
      <vt:lpstr>PowerPoint Presentation</vt:lpstr>
      <vt:lpstr>PowerPoint Presentation</vt:lpstr>
      <vt:lpstr>PowerPoint Presentation</vt:lpstr>
      <vt:lpstr>PowerPoint Presentation</vt:lpstr>
      <vt:lpstr>PowerPoint Presentation</vt:lpstr>
      <vt:lpstr>WHICH ONE DO YOU PREFER GUYS </vt:lpstr>
      <vt:lpstr>Development of an Interactive Dashboard for School Performance Analysis Using EXETAT</vt:lpstr>
      <vt:lpstr>Title &amp; Purpose</vt:lpstr>
      <vt:lpstr>Project Overview and Purpose</vt:lpstr>
      <vt:lpstr>Methodology &amp; Key Features</vt:lpstr>
      <vt:lpstr>Research Methodology and Dashboard Design</vt:lpstr>
      <vt:lpstr>PowerPoint Presentation</vt:lpstr>
      <vt:lpstr>Limitation of the study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147</cp:revision>
  <dcterms:created xsi:type="dcterms:W3CDTF">2025-08-11T01:29:01Z</dcterms:created>
  <dcterms:modified xsi:type="dcterms:W3CDTF">2025-12-27T08:14:34Z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